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228600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600" b="1">
                <a:solidFill>
                  <a:srgbClr val="FFFFFF"/>
                </a:solidFill>
                <a:latin typeface="Cambria"/>
              </a:defRPr>
            </a:pPr>
            <a:r>
              <a:t>ATRIA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i="1">
                <a:solidFill>
                  <a:srgbClr val="02C39A"/>
                </a:solidFill>
                <a:latin typeface="Calibri"/>
              </a:defRPr>
            </a:pPr>
            <a:r>
              <a:t>Certainty as a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alibri"/>
              </a:defRPr>
            </a:pPr>
            <a:r>
              <a:t>Building Trust Infrastructure for Global Produce Trade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mbria"/>
              </a:defRPr>
            </a:pPr>
            <a:r>
              <a:t>The Problem: Broken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55448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090"/>
                </a:solidFill>
                <a:latin typeface="Cambria"/>
              </a:defRPr>
            </a:pPr>
            <a:r>
              <a:t>$2.6B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Lost Annually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188720"/>
            <a:ext cx="155448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3716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090"/>
                </a:solidFill>
                <a:latin typeface="Cambria"/>
              </a:defRPr>
            </a:pPr>
            <a:r>
              <a:t>72h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202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To Clear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188720"/>
            <a:ext cx="155448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3716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090"/>
                </a:solidFill>
                <a:latin typeface="Cambria"/>
              </a:defRPr>
            </a:pPr>
            <a:r>
              <a:t>320K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9202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Families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188720"/>
            <a:ext cx="155448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716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090"/>
                </a:solidFill>
                <a:latin typeface="Cambria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Source of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A2A2A"/>
                </a:solidFill>
                <a:latin typeface="Calibri"/>
              </a:defRPr>
            </a:pPr>
            <a:r>
              <a:t>📧 Certificates in emails (unchecked)</a:t>
            </a:r>
          </a:p>
          <a:p>
            <a:pPr>
              <a:defRPr sz="1400">
                <a:solidFill>
                  <a:srgbClr val="2A2A2A"/>
                </a:solidFill>
                <a:latin typeface="Calibri"/>
              </a:defRPr>
            </a:pPr>
            <a:r>
              <a:t>📄 Lab reports as PDFs (isolated)</a:t>
            </a:r>
          </a:p>
          <a:p>
            <a:pPr>
              <a:defRPr sz="1400">
                <a:solidFill>
                  <a:srgbClr val="2A2A2A"/>
                </a:solidFill>
                <a:latin typeface="Calibri"/>
              </a:defRPr>
            </a:pPr>
            <a:r>
              <a:t>📊 Inspection logs in spreadsheets (fragmented)</a:t>
            </a:r>
          </a:p>
          <a:p>
            <a:pPr>
              <a:defRPr sz="1400">
                <a:solidFill>
                  <a:srgbClr val="2A2A2A"/>
                </a:solidFill>
                <a:latin typeface="Calibri"/>
              </a:defRPr>
            </a:pPr>
            <a:r>
              <a:t>❌ No single source of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8229600" cy="731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A1A1A"/>
                </a:solidFill>
                <a:latin typeface="Calibri"/>
              </a:defRPr>
            </a:pPr>
            <a:r>
              <a:t>"The crisis isn't in the fields. It's in the paperwork."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mbria"/>
              </a:defRPr>
            </a:pPr>
            <a:r>
              <a:t>ATRIA Dashboard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5303520"/>
          </a:xfrm>
          <a:prstGeom prst="rect">
            <a:avLst/>
          </a:prstGeom>
          <a:solidFill>
            <a:srgbClr val="F0F0F0"/>
          </a:solidFill>
          <a:ln w="381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  <a:latin typeface="Calibria"/>
              </a:defRPr>
            </a:pPr>
            <a:r>
              <a:t>🖥️  LIVE DEMO</a:t>
            </a:r>
            <a:br/>
            <a:r>
              <a:t>Shipment Readiness Pipeline</a:t>
            </a:r>
            <a:br/>
            <a:br/>
            <a:r>
              <a:t>Watch as documents arrive and the status changes from 🟡 INCOMPLETE → 🟢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mbria"/>
              </a:defRPr>
            </a:pPr>
            <a:r>
              <a:t>Before vs.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28090"/>
                </a:solidFill>
                <a:latin typeface="Cambria"/>
              </a:defRPr>
            </a:pPr>
            <a:r>
              <a:t>BEFORE</a:t>
            </a:r>
          </a:p>
          <a:p>
            <a:pPr>
              <a:spcBef>
                <a:spcPts val="600"/>
              </a:spcBef>
              <a:defRPr sz="1300" b="0">
                <a:solidFill>
                  <a:srgbClr val="2A2A2A"/>
                </a:solidFill>
                <a:latin typeface="Calibri"/>
              </a:defRPr>
            </a:pPr>
            <a:r>
              <a:t>❌ Missing docs</a:t>
            </a:r>
          </a:p>
          <a:p>
            <a:pPr>
              <a:spcBef>
                <a:spcPts val="600"/>
              </a:spcBef>
              <a:defRPr sz="1300" b="0">
                <a:solidFill>
                  <a:srgbClr val="2A2A2A"/>
                </a:solidFill>
                <a:latin typeface="Calibri"/>
              </a:defRPr>
            </a:pPr>
            <a:r>
              <a:t>🔄 Scattered systems</a:t>
            </a:r>
          </a:p>
          <a:p>
            <a:pPr>
              <a:spcBef>
                <a:spcPts val="600"/>
              </a:spcBef>
              <a:defRPr sz="1300" b="0">
                <a:solidFill>
                  <a:srgbClr val="2A2A2A"/>
                </a:solidFill>
                <a:latin typeface="Calibri"/>
              </a:defRPr>
            </a:pPr>
            <a:r>
              <a:t>⏳ 72 hours</a:t>
            </a:r>
          </a:p>
          <a:p>
            <a:pPr>
              <a:spcBef>
                <a:spcPts val="600"/>
              </a:spcBef>
              <a:defRPr sz="1300" b="0">
                <a:solidFill>
                  <a:srgbClr val="2A2A2A"/>
                </a:solidFill>
                <a:latin typeface="Calibri"/>
              </a:defRPr>
            </a:pPr>
            <a:r>
              <a:t>😰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2C39A"/>
                </a:solidFill>
                <a:latin typeface="Cambria"/>
              </a:defRPr>
            </a:pPr>
            <a:r>
              <a:t>AFTER</a:t>
            </a:r>
          </a:p>
          <a:p>
            <a:pPr>
              <a:spcBef>
                <a:spcPts val="600"/>
              </a:spcBef>
              <a:defRPr sz="1300" b="0">
                <a:solidFill>
                  <a:srgbClr val="2A2A2A"/>
                </a:solidFill>
                <a:latin typeface="Calibri"/>
              </a:defRPr>
            </a:pPr>
            <a:r>
              <a:t>✅ All verified</a:t>
            </a:r>
          </a:p>
          <a:p>
            <a:pPr>
              <a:spcBef>
                <a:spcPts val="600"/>
              </a:spcBef>
              <a:defRPr sz="1300" b="0">
                <a:solidFill>
                  <a:srgbClr val="2A2A2A"/>
                </a:solidFill>
                <a:latin typeface="Calibri"/>
              </a:defRPr>
            </a:pPr>
            <a:r>
              <a:t>🔗 Single protocol</a:t>
            </a:r>
          </a:p>
          <a:p>
            <a:pPr>
              <a:spcBef>
                <a:spcPts val="600"/>
              </a:spcBef>
              <a:defRPr sz="1300" b="0">
                <a:solidFill>
                  <a:srgbClr val="2A2A2A"/>
                </a:solidFill>
                <a:latin typeface="Calibri"/>
              </a:defRPr>
            </a:pPr>
            <a:r>
              <a:t>⚡ 23 minutes</a:t>
            </a:r>
          </a:p>
          <a:p>
            <a:pPr>
              <a:spcBef>
                <a:spcPts val="600"/>
              </a:spcBef>
              <a:defRPr sz="1300" b="0">
                <a:solidFill>
                  <a:srgbClr val="2A2A2A"/>
                </a:solidFill>
                <a:latin typeface="Calibri"/>
              </a:defRPr>
            </a:pPr>
            <a:r>
              <a:t>💪 Certainty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mbria"/>
              </a:defRPr>
            </a:pPr>
            <a:r>
              <a:t>How ATRIA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2A2A2A"/>
                </a:solidFill>
                <a:latin typeface="Calibri"/>
              </a:defRPr>
            </a:pPr>
            <a:r>
              <a:t>1️⃣  Upload all documents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2A2A2A"/>
                </a:solidFill>
                <a:latin typeface="Calibri"/>
              </a:defRPr>
            </a:pPr>
            <a:r>
              <a:t>2️⃣  Protocol validates in real-time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2A2A2A"/>
                </a:solidFill>
                <a:latin typeface="Calibri"/>
              </a:defRPr>
            </a:pPr>
            <a:r>
              <a:t>3️⃣  System locks until ALL verified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2A2A2A"/>
                </a:solidFill>
                <a:latin typeface="Calibri"/>
              </a:defRPr>
            </a:pPr>
            <a:r>
              <a:t>4️⃣  Generate Evidence Pack → Anchor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2C39A"/>
                </a:solidFill>
                <a:latin typeface="Cambria"/>
              </a:defRPr>
            </a:pPr>
            <a:r>
              <a:t>Turn Mistrust Into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19" y="2880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mbria"/>
              </a:defRPr>
            </a:pPr>
            <a:r>
              <a:t>$1.5T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3246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F5F5"/>
                </a:solidFill>
                <a:latin typeface="Calibri"/>
              </a:defRPr>
            </a:pPr>
            <a:r>
              <a:t>Global 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926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👨‍🌾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80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mbria"/>
              </a:defRPr>
            </a:pPr>
            <a:r>
              <a:t>320K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46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F5F5"/>
                </a:solidFill>
                <a:latin typeface="Calibri"/>
              </a:defRPr>
            </a:pPr>
            <a:r>
              <a:t>Smallholders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926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80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mbria"/>
              </a:defRPr>
            </a:pPr>
            <a:r>
              <a:t>72h → 23m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46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F5F5"/>
                </a:solidFill>
                <a:latin typeface="Calibri"/>
              </a:defRPr>
            </a:pPr>
            <a:r>
              <a:t>Certainty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389120"/>
            <a:ext cx="6400800" cy="10972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mbria"/>
              </a:defRPr>
            </a:pPr>
            <a:r>
              <a:t>Join us in building the future of food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A1A1A"/>
                </a:solidFill>
                <a:latin typeface="Calibri"/>
              </a:defRPr>
            </a:pPr>
            <a:r>
              <a:t>Building the trust infrastructure for global 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F5F5"/>
                </a:solidFill>
                <a:latin typeface="Calibri"/>
              </a:defRPr>
            </a:pPr>
            <a:r>
              <a:t>www.atria.food | @atria_protocol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