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1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4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384048"/>
            <a:ext cx="2286000" cy="402336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38404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1C38"/>
                </a:solidFill>
                <a:latin typeface="Calibri"/>
              </a:rPr>
              <a:t>VERIFIELD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60120"/>
            <a:ext cx="6583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Georgia"/>
              </a:rPr>
              <a:t>Verifield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51460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EE8C0"/>
                </a:solidFill>
                <a:latin typeface="Calibri"/>
              </a:rPr>
              <a:t>The compliance layer for global produce trade.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200400"/>
            <a:ext cx="6400800" cy="1691640"/>
          </a:xfrm>
          <a:prstGeom prst="rect">
            <a:avLst/>
          </a:prstGeom>
          <a:solidFill>
            <a:srgbClr val="0C2444"/>
          </a:solidFill>
          <a:ln w="12700">
            <a:solidFill>
              <a:srgbClr val="3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3200400"/>
            <a:ext cx="91440" cy="1691640"/>
          </a:xfrm>
          <a:prstGeom prst="rect">
            <a:avLst/>
          </a:prstGeom>
          <a:solidFill>
            <a:srgbClr val="F5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1012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00A"/>
                </a:solidFill>
                <a:latin typeface="Georgia"/>
              </a:rPr>
              <a:t>$2.6B lost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30752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 rejected or delayed perishable exports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60520"/>
            <a:ext cx="6035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8000"/>
              </a:lnSpc>
            </a:pPr>
            <a:r>
              <a:rPr sz="1150" b="0" i="0">
                <a:solidFill>
                  <a:srgbClr val="8A9EB8"/>
                </a:solidFill>
                <a:latin typeface="Calibri"/>
              </a:rPr>
              <a:t>Because farms, customs, banks and importers have no shared,
verifiable record of whether a shipment is ready.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5120640"/>
            <a:ext cx="1508760" cy="1508760"/>
          </a:xfrm>
          <a:prstGeom prst="rect">
            <a:avLst/>
          </a:prstGeom>
          <a:solidFill>
            <a:srgbClr val="E5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5120640"/>
            <a:ext cx="1508760" cy="271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5120640"/>
            <a:ext cx="1508760" cy="33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0" i="0">
                <a:solidFill>
                  <a:srgbClr val="E5243B"/>
                </a:solidFill>
                <a:latin typeface="Calibri"/>
              </a:rPr>
              <a:t>SUSTAINABLE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392216"/>
            <a:ext cx="1508760" cy="829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7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6267297"/>
            <a:ext cx="1508760" cy="362102"/>
          </a:xfrm>
          <a:prstGeom prst="rect">
            <a:avLst/>
          </a:prstGeom>
          <a:solidFill>
            <a:srgbClr val="E5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6267297"/>
            <a:ext cx="1508760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NO POVERTY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93976" y="5120640"/>
            <a:ext cx="1508760" cy="1508760"/>
          </a:xfrm>
          <a:prstGeom prst="rect">
            <a:avLst/>
          </a:prstGeom>
          <a:solidFill>
            <a:srgbClr val="DD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93976" y="5120640"/>
            <a:ext cx="1508760" cy="271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3976" y="5120640"/>
            <a:ext cx="1508760" cy="33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0" i="0">
                <a:solidFill>
                  <a:srgbClr val="DDA63A"/>
                </a:solidFill>
                <a:latin typeface="Calibri"/>
              </a:rPr>
              <a:t>SUSTAINABLE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3976" y="5392216"/>
            <a:ext cx="1508760" cy="829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7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3976" y="6267297"/>
            <a:ext cx="1508760" cy="362102"/>
          </a:xfrm>
          <a:prstGeom prst="rect">
            <a:avLst/>
          </a:prstGeom>
          <a:solidFill>
            <a:srgbClr val="DD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6267297"/>
            <a:ext cx="1508760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ZERO HUNGER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4487" y="5257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Aligned with two of the most critical
UN Sustainable Development Goals.</a:t>
            </a:r>
          </a:p>
        </p:txBody>
      </p:sp>
      <p:sp>
        <p:nvSpPr>
          <p:cNvPr id="28" name="Oval 27"/>
          <p:cNvSpPr/>
          <p:nvPr/>
        </p:nvSpPr>
        <p:spPr>
          <a:xfrm>
            <a:off x="8869680" y="1005840"/>
            <a:ext cx="658368" cy="658368"/>
          </a:xfrm>
          <a:prstGeom prst="ellipse">
            <a:avLst/>
          </a:prstGeom>
          <a:solidFill>
            <a:srgbClr val="102A52"/>
          </a:solidFill>
          <a:ln w="19050">
            <a:solidFill>
              <a:srgbClr val="8A9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1190183"/>
            <a:ext cx="658368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EB8"/>
                </a:solidFill>
                <a:latin typeface="Calibri"/>
              </a:rPr>
              <a:t>Farm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28048" y="1076248"/>
            <a:ext cx="347472" cy="36576"/>
          </a:xfrm>
          <a:prstGeom prst="rect">
            <a:avLst/>
          </a:prstGeom>
          <a:solidFill>
            <a:srgbClr val="8A9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29800" y="685800"/>
            <a:ext cx="658368" cy="658368"/>
          </a:xfrm>
          <a:prstGeom prst="ellipse">
            <a:avLst/>
          </a:prstGeom>
          <a:solidFill>
            <a:srgbClr val="102A52"/>
          </a:solidFill>
          <a:ln w="19050">
            <a:solidFill>
              <a:srgbClr val="8A9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870143"/>
            <a:ext cx="658368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EB8"/>
                </a:solidFill>
                <a:latin typeface="Calibri"/>
              </a:rPr>
              <a:t>Lot 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88168" y="1099108"/>
            <a:ext cx="274320" cy="36576"/>
          </a:xfrm>
          <a:prstGeom prst="rect">
            <a:avLst/>
          </a:prstGeom>
          <a:solidFill>
            <a:srgbClr val="8A9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16768" y="1051560"/>
            <a:ext cx="749808" cy="749808"/>
          </a:xfrm>
          <a:prstGeom prst="ellipse">
            <a:avLst/>
          </a:prstGeom>
          <a:solidFill>
            <a:srgbClr val="102A52"/>
          </a:solidFill>
          <a:ln w="19050">
            <a:solidFill>
              <a:srgbClr val="2A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16768" y="1261506"/>
            <a:ext cx="749808" cy="33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EB8"/>
                </a:solidFill>
                <a:latin typeface="Calibri"/>
              </a:rPr>
              <a:t>Compliance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109960" y="1771192"/>
            <a:ext cx="402336" cy="36576"/>
          </a:xfrm>
          <a:prstGeom prst="rect">
            <a:avLst/>
          </a:prstGeom>
          <a:solidFill>
            <a:srgbClr val="2A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09960" y="1965960"/>
            <a:ext cx="749808" cy="749808"/>
          </a:xfrm>
          <a:prstGeom prst="ellipse">
            <a:avLst/>
          </a:prstGeom>
          <a:solidFill>
            <a:srgbClr val="102A52"/>
          </a:solidFill>
          <a:ln w="19050">
            <a:solidFill>
              <a:srgbClr val="2A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09960" y="2175906"/>
            <a:ext cx="749808" cy="33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EB8"/>
                </a:solidFill>
                <a:latin typeface="Calibri"/>
              </a:rPr>
              <a:t>Custody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52760" y="2731312"/>
            <a:ext cx="1252728" cy="36576"/>
          </a:xfrm>
          <a:prstGeom prst="rect">
            <a:avLst/>
          </a:prstGeom>
          <a:solidFill>
            <a:srgbClr val="2A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43032" y="2862072"/>
            <a:ext cx="1179576" cy="1179576"/>
          </a:xfrm>
          <a:prstGeom prst="ellipse">
            <a:avLst/>
          </a:prstGeom>
          <a:solidFill>
            <a:srgbClr val="2A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52760" y="2971800"/>
            <a:ext cx="960120" cy="960120"/>
          </a:xfrm>
          <a:prstGeom prst="ellipse">
            <a:avLst/>
          </a:prstGeom>
          <a:solidFill>
            <a:srgbClr val="3EC98A"/>
          </a:solidFill>
          <a:ln w="19050">
            <a:solidFill>
              <a:srgbClr val="3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52760" y="3240633"/>
            <a:ext cx="96012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1C38"/>
                </a:solidFill>
                <a:latin typeface="Calibri"/>
              </a:rPr>
              <a:t>Verified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4251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EE8C0"/>
                </a:solidFill>
                <a:latin typeface="Calibri"/>
              </a:rPr>
              <a:t>5-step verified journey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880"/>
                </a:solidFill>
                <a:latin typeface="Calibri"/>
              </a:rPr>
              <a:t>Google Factory X Moonshot  ·  TKS &amp; Velocity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C98A"/>
                </a:solidFill>
                <a:latin typeface="Calibri"/>
              </a:rPr>
              <a:t>T   H   E       P   R   O   B   L   E  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81C38"/>
                </a:solidFill>
                <a:latin typeface="Georgia"/>
              </a:rPr>
              <a:t>$2.6 billion
lost every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2996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8000"/>
              </a:lnSpc>
            </a:pPr>
            <a:r>
              <a:rPr sz="1350" b="0" i="0">
                <a:solidFill>
                  <a:srgbClr val="44556A"/>
                </a:solidFill>
                <a:latin typeface="Calibri"/>
              </a:rPr>
              <a:t>Perishable export shipments rejected or delayed at customs
because no one can quickly verify compliance.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788920"/>
            <a:ext cx="5394960" cy="1298448"/>
          </a:xfrm>
          <a:prstGeom prst="rect">
            <a:avLst/>
          </a:prstGeom>
          <a:solidFill>
            <a:srgbClr val="FFF3D8"/>
          </a:solidFill>
          <a:ln w="12700">
            <a:solidFill>
              <a:srgbClr val="F5C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788920"/>
            <a:ext cx="91440" cy="1298448"/>
          </a:xfrm>
          <a:prstGeom prst="rect">
            <a:avLst/>
          </a:prstGeom>
          <a:solidFill>
            <a:srgbClr val="F5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8895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7A4A00"/>
                </a:solidFill>
                <a:latin typeface="Calibri"/>
              </a:rPr>
              <a:t>320,000 smallholder farmers in Peru &amp; Mexico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9184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1">
                <a:solidFill>
                  <a:srgbClr val="925800"/>
                </a:solidFill>
                <a:latin typeface="Calibri"/>
              </a:rPr>
              <a:t>can lose an entire season's income from a single
export delay they have no way to predict or prevent.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594360"/>
            <a:ext cx="1719072" cy="5852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594360"/>
            <a:ext cx="1719072" cy="82296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7772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1C38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1389888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A2638"/>
                </a:solidFill>
                <a:latin typeface="Calibri"/>
              </a:rPr>
              <a:t>Fragmented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304288"/>
            <a:ext cx="15361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556A"/>
                </a:solidFill>
                <a:latin typeface="Calibri"/>
              </a:rPr>
              <a:t>Phyto cert in one portal, lab report in an email, inspection on paper. No single source of truth.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594360"/>
            <a:ext cx="1719072" cy="5852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594360"/>
            <a:ext cx="1719072" cy="82296"/>
          </a:xfrm>
          <a:prstGeom prst="rect">
            <a:avLst/>
          </a:prstGeom>
          <a:solidFill>
            <a:srgbClr val="144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7772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402E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389888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A2638"/>
                </a:solidFill>
                <a:latin typeface="Calibri"/>
              </a:rPr>
              <a:t>No shared readiness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04288"/>
            <a:ext cx="15361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556A"/>
                </a:solidFill>
                <a:latin typeface="Calibri"/>
              </a:rPr>
              <a:t>Banks, importers, and customs officials cannot confirm compliance without calling someone.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594360"/>
            <a:ext cx="1719072" cy="5852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32720" y="594360"/>
            <a:ext cx="1719072" cy="82296"/>
          </a:xfrm>
          <a:prstGeom prst="rect">
            <a:avLst/>
          </a:prstGeom>
          <a:solidFill>
            <a:srgbClr val="2A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7772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A8A5F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1389888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A2638"/>
                </a:solidFill>
                <a:latin typeface="Calibri"/>
              </a:rPr>
              <a:t>Decisions take 72+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304288"/>
            <a:ext cx="15361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556A"/>
                </a:solidFill>
                <a:latin typeface="Calibri"/>
              </a:rPr>
              <a:t>Every hour of delay is spoilage. In perishables, certainty is the product — not the fruit.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E8C0"/>
                </a:solidFill>
                <a:latin typeface="Calibri"/>
              </a:rPr>
              <a:t>$1.5T global fresh produce market  ·  40% of losses are preventable  ·  72 hours → 3 minutes with Verifield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C98A"/>
                </a:solidFill>
                <a:latin typeface="Calibri"/>
              </a:rPr>
              <a:t>T   H   E       S   O   L   U   T   I   O  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A Consignment Readiness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5564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9EE8C0"/>
                </a:solidFill>
                <a:latin typeface="Calibri"/>
              </a:rPr>
              <a:t>Verifield groups all compliance evidence for a shipment, validates it through a formal state machine,
and generates a cryptographically verifiable Evidence Pack — anchored on Hedera Consensus Service.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743200"/>
            <a:ext cx="3611880" cy="3703320"/>
          </a:xfrm>
          <a:prstGeom prst="rect">
            <a:avLst/>
          </a:prstGeom>
          <a:solidFill>
            <a:srgbClr val="102A52"/>
          </a:solidFill>
          <a:ln w="19050">
            <a:solidFill>
              <a:srgbClr val="3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3611880" cy="91440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2926080"/>
            <a:ext cx="685800" cy="685800"/>
          </a:xfrm>
          <a:prstGeom prst="ellipse">
            <a:avLst/>
          </a:prstGeom>
          <a:solidFill>
            <a:srgbClr val="143462"/>
          </a:solidFill>
          <a:ln w="12700">
            <a:solidFill>
              <a:srgbClr val="3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9260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C98A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673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Consignment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8A9EB8"/>
                </a:solidFill>
                <a:latin typeface="Calibri"/>
              </a:rPr>
              <a:t>Every lot, document, attestation, and custody transfer unified in one decision object with formal state tracking.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3611880" cy="3703320"/>
          </a:xfrm>
          <a:prstGeom prst="rect">
            <a:avLst/>
          </a:prstGeom>
          <a:solidFill>
            <a:srgbClr val="102A52"/>
          </a:solidFill>
          <a:ln w="19050">
            <a:solidFill>
              <a:srgbClr val="F5A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743200"/>
            <a:ext cx="3611880" cy="91440"/>
          </a:xfrm>
          <a:prstGeom prst="rect">
            <a:avLst/>
          </a:prstGeom>
          <a:solidFill>
            <a:srgbClr val="F5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8" y="2926080"/>
            <a:ext cx="685800" cy="685800"/>
          </a:xfrm>
          <a:prstGeom prst="ellipse">
            <a:avLst/>
          </a:prstGeom>
          <a:solidFill>
            <a:srgbClr val="143462"/>
          </a:solidFill>
          <a:ln w="12700">
            <a:solidFill>
              <a:srgbClr val="F5A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9260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00A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673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4340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8A9EB8"/>
                </a:solidFill>
                <a:latin typeface="Calibri"/>
              </a:rPr>
              <a:t>SHA-256 Merkle root of all compliance evidence — one hash that represents the full readiness state of a shipment.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743200"/>
            <a:ext cx="3611880" cy="3703320"/>
          </a:xfrm>
          <a:prstGeom prst="rect">
            <a:avLst/>
          </a:prstGeom>
          <a:solidFill>
            <a:srgbClr val="102A52"/>
          </a:solidFill>
          <a:ln w="19050">
            <a:solidFill>
              <a:srgbClr val="9EE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2743200"/>
            <a:ext cx="3611880" cy="91440"/>
          </a:xfrm>
          <a:prstGeom prst="rect">
            <a:avLst/>
          </a:prstGeom>
          <a:solidFill>
            <a:srgbClr val="9EE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76488" y="2926080"/>
            <a:ext cx="685800" cy="685800"/>
          </a:xfrm>
          <a:prstGeom prst="ellipse">
            <a:avLst/>
          </a:prstGeom>
          <a:solidFill>
            <a:srgbClr val="143462"/>
          </a:solidFill>
          <a:ln w="12700">
            <a:solidFill>
              <a:srgbClr val="9EE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29260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EE8C0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7673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Hedera Anchor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34340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8A9EB8"/>
                </a:solidFill>
                <a:latin typeface="Calibri"/>
              </a:rPr>
              <a:t>The hash is anchored immutably on Hedera HCS. Any importer, bank or customs official can verify via Mirror Node.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4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00A"/>
                </a:solidFill>
                <a:latin typeface="Calibri"/>
              </a:rPr>
              <a:t>Decision time:   72 hours  →  3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C98A"/>
                </a:solidFill>
                <a:latin typeface="Calibri"/>
              </a:rPr>
              <a:t>H   O   W       I   T       W   O   R   K 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1C38"/>
                </a:solidFill>
                <a:latin typeface="Georgia"/>
              </a:rPr>
              <a:t>Formal State Machine + Immutable Anchoring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36192"/>
            <a:ext cx="171907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1A2638"/>
                </a:solidFill>
                <a:latin typeface="Calibri"/>
              </a:rPr>
              <a:t>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176272"/>
            <a:ext cx="16093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C98A"/>
                </a:solidFill>
                <a:latin typeface="Calibri"/>
              </a:rPr>
              <a:t>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1828800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EB8"/>
                </a:solidFill>
                <a:latin typeface="Calibr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2322576" y="1536192"/>
            <a:ext cx="171907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62763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1A2638"/>
                </a:solidFill>
                <a:latin typeface="Calibri"/>
              </a:rPr>
              <a:t>evidence
collecting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76272"/>
            <a:ext cx="16093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C98A"/>
                </a:solidFill>
                <a:latin typeface="Calibri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935" y="1828800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EB8"/>
                </a:solidFill>
                <a:latin typeface="Calibri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9664" y="1536192"/>
            <a:ext cx="171907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162763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1A2638"/>
                </a:solidFill>
                <a:latin typeface="Calibri"/>
              </a:rPr>
              <a:t>docs
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176272"/>
            <a:ext cx="16093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C98A"/>
                </a:solidFill>
                <a:latin typeface="Calibri"/>
              </a:rPr>
              <a:t>61%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1828800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EB8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2" y="1536192"/>
            <a:ext cx="171907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1616" y="162763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1A2638"/>
                </a:solidFill>
                <a:latin typeface="Calibri"/>
              </a:rPr>
              <a:t>treatment
attested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2176272"/>
            <a:ext cx="16093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C98A"/>
                </a:solidFill>
                <a:latin typeface="Calibri"/>
              </a:rPr>
              <a:t>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1828800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EB8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536192"/>
            <a:ext cx="171907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162763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1A2638"/>
                </a:solidFill>
                <a:latin typeface="Calibri"/>
              </a:rPr>
              <a:t>custody
continuous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2176272"/>
            <a:ext cx="16093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C98A"/>
                </a:solidFill>
                <a:latin typeface="Calibri"/>
              </a:rPr>
              <a:t>88%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828800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EB8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10928" y="1536192"/>
            <a:ext cx="1719072" cy="914400"/>
          </a:xfrm>
          <a:prstGeom prst="rect">
            <a:avLst/>
          </a:prstGeom>
          <a:solidFill>
            <a:srgbClr val="3EC98A"/>
          </a:solidFill>
          <a:ln w="25400">
            <a:solidFill>
              <a:srgbClr val="3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162763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081C38"/>
                </a:solidFill>
                <a:latin typeface="Calibri"/>
              </a:rPr>
              <a:t>import
ready 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2176272"/>
            <a:ext cx="16093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1C38"/>
                </a:solidFill>
                <a:latin typeface="Calibri"/>
              </a:rPr>
              <a:t>96%+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" y="2651760"/>
            <a:ext cx="11247120" cy="658368"/>
          </a:xfrm>
          <a:prstGeom prst="rect">
            <a:avLst/>
          </a:prstGeom>
          <a:solidFill>
            <a:srgbClr val="FEF0F0"/>
          </a:solidFill>
          <a:ln w="10160">
            <a:solidFill>
              <a:srgbClr val="FC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270662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91818"/>
                </a:solidFill>
                <a:latin typeface="Calibri"/>
              </a:rPr>
              <a:t>⚠  Any blocking exception — missing certificate, cold-chain deviation, failed inspection — halts state progression immediately.  Decision Sentinel: ❌ Not Ready.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" y="3511296"/>
            <a:ext cx="5413248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" y="3511296"/>
            <a:ext cx="5413248" cy="73152"/>
          </a:xfrm>
          <a:prstGeom prst="rect">
            <a:avLst/>
          </a:prstGeom>
          <a:solidFill>
            <a:srgbClr val="D8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6210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C38"/>
                </a:solidFill>
                <a:latin typeface="Calibri"/>
              </a:rPr>
              <a:t>Off-chain  ·  Supabase + Row Level Security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" y="4114800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40873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A"/>
                </a:solidFill>
                <a:latin typeface="Calibri"/>
              </a:rPr>
              <a:t>Evidence objects, attestations, custody transfers, exceptions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4800600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7731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A"/>
                </a:solidFill>
                <a:latin typeface="Calibri"/>
              </a:rPr>
              <a:t>Each actor sees only what their role authorizes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5486400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458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A"/>
                </a:solidFill>
                <a:latin typeface="Calibri"/>
              </a:rPr>
              <a:t>Zero PII, raw documents, or sensitive data on-chain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511296"/>
            <a:ext cx="5413248" cy="2944368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511296"/>
            <a:ext cx="5413248" cy="7315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36210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C98A"/>
                </a:solidFill>
                <a:latin typeface="Calibri"/>
              </a:rPr>
              <a:t>On-chain  ·  Hedera HCS + Polygon Amoy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55664" y="4114800"/>
            <a:ext cx="256032" cy="256032"/>
          </a:xfrm>
          <a:prstGeom prst="rect">
            <a:avLst/>
          </a:prstGeom>
          <a:solidFill>
            <a:srgbClr val="2A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21424" y="408736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Only SHA-256 Merkle root of Evidence Pack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55664" y="4800600"/>
            <a:ext cx="256032" cy="256032"/>
          </a:xfrm>
          <a:prstGeom prst="rect">
            <a:avLst/>
          </a:prstGeom>
          <a:solidFill>
            <a:srgbClr val="2A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1424" y="477316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Consensus timestamp + sequence number from Hedera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5486400"/>
            <a:ext cx="256032" cy="256032"/>
          </a:xfrm>
          <a:prstGeom prst="rect">
            <a:avLst/>
          </a:prstGeom>
          <a:solidFill>
            <a:srgbClr val="2A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21424" y="545896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Publicly verifiable via Mirror Node — no login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4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C98A"/>
                </a:solidFill>
                <a:latin typeface="Calibri"/>
              </a:rPr>
              <a:t>T   H   E       P   R   O   D   U   C  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Three views. One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19072"/>
            <a:ext cx="3657600" cy="4773168"/>
          </a:xfrm>
          <a:prstGeom prst="rect">
            <a:avLst/>
          </a:prstGeom>
          <a:solidFill>
            <a:srgbClr val="0A1C38"/>
          </a:solidFill>
          <a:ln w="19050">
            <a:solidFill>
              <a:srgbClr val="3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19072"/>
            <a:ext cx="3657600" cy="91440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Consignment Workbench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871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EC98A"/>
                </a:solidFill>
                <a:latin typeface="Courier New"/>
              </a:rPr>
              <a:t>/consignments/:id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Evidence Coverage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9300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Attestations from 17 protocol 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5993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Custody chain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2686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Decision Sentinel — real-time go/no-go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217920"/>
            <a:ext cx="3291840" cy="219456"/>
          </a:xfrm>
          <a:prstGeom prst="rect">
            <a:avLst/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21792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EB8"/>
                </a:solidFill>
                <a:latin typeface="Calibri"/>
              </a:rPr>
              <a:t>Export Manager  ·  Compliance Lead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1719072"/>
            <a:ext cx="3657600" cy="4773168"/>
          </a:xfrm>
          <a:prstGeom prst="rect">
            <a:avLst/>
          </a:prstGeom>
          <a:solidFill>
            <a:srgbClr val="0A1C38"/>
          </a:solidFill>
          <a:ln w="19050">
            <a:solidFill>
              <a:srgbClr val="F5A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19072"/>
            <a:ext cx="3657600" cy="91440"/>
          </a:xfrm>
          <a:prstGeom prst="rect">
            <a:avLst/>
          </a:prstGeom>
          <a:solidFill>
            <a:srgbClr val="F5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Readiness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871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00A"/>
                </a:solidFill>
                <a:latin typeface="Courier New"/>
              </a:rPr>
              <a:t>/readiness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260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All cases across all 6 formal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9300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Blocking exceptions flagged inline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5993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Completeness % per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2686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One-click drill-down to workbench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6217920"/>
            <a:ext cx="3291840" cy="219456"/>
          </a:xfrm>
          <a:prstGeom prst="rect">
            <a:avLst/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621792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EB8"/>
                </a:solidFill>
                <a:latin typeface="Calibri"/>
              </a:rPr>
              <a:t>Compliance Lead  ·  Auditor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1719072"/>
            <a:ext cx="3657600" cy="4773168"/>
          </a:xfrm>
          <a:prstGeom prst="rect">
            <a:avLst/>
          </a:prstGeom>
          <a:solidFill>
            <a:srgbClr val="0A1C38"/>
          </a:solidFill>
          <a:ln w="19050">
            <a:solidFill>
              <a:srgbClr val="9EE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4464" y="1719072"/>
            <a:ext cx="3657600" cy="91440"/>
          </a:xfrm>
          <a:prstGeom prst="rect">
            <a:avLst/>
          </a:prstGeom>
          <a:solidFill>
            <a:srgbClr val="9EE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Public Verifier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4871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E8C0"/>
                </a:solidFill>
                <a:latin typeface="Courier New"/>
              </a:rPr>
              <a:t>/verify-pack  (no login needed)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9260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Any case number or pack hash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349300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Live Hedera Mirror Node 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405993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Trusted by anyone, anywhere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62686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EB8"/>
                </a:solidFill>
                <a:latin typeface="Calibri"/>
              </a:rPr>
              <a:t>  ✓  No account. No intermediary.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85632" y="6217920"/>
            <a:ext cx="3291840" cy="219456"/>
          </a:xfrm>
          <a:prstGeom prst="rect">
            <a:avLst/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621792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EB8"/>
                </a:solidFill>
                <a:latin typeface="Calibri"/>
              </a:rPr>
              <a:t>Importer  ·  Customs  ·  Financier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C98A"/>
                </a:solidFill>
                <a:latin typeface="Calibri"/>
              </a:rPr>
              <a:t>M   A   R   K   E   T       O   P   P   O   R   T   U   N   I   T  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3400" b="1" i="0">
                <a:solidFill>
                  <a:srgbClr val="081C38"/>
                </a:solidFill>
                <a:latin typeface="Georgia"/>
              </a:rPr>
              <a:t>A massive,
underserved market.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57400"/>
            <a:ext cx="2606040" cy="2606040"/>
          </a:xfrm>
          <a:prstGeom prst="ellipse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$1.5T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482803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4556A"/>
                </a:solidFill>
                <a:latin typeface="Calibri"/>
              </a:rPr>
              <a:t>Global fresh produce
export market</a:t>
            </a:r>
          </a:p>
        </p:txBody>
      </p:sp>
      <p:sp>
        <p:nvSpPr>
          <p:cNvPr id="8" name="Oval 7"/>
          <p:cNvSpPr/>
          <p:nvPr/>
        </p:nvSpPr>
        <p:spPr>
          <a:xfrm>
            <a:off x="4389120" y="2057400"/>
            <a:ext cx="2606040" cy="2606040"/>
          </a:xfrm>
          <a:prstGeom prst="ellipse">
            <a:avLst/>
          </a:prstGeom>
          <a:solidFill>
            <a:srgbClr val="144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4688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$240B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482803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4556A"/>
                </a:solidFill>
                <a:latin typeface="Calibri"/>
              </a:rPr>
              <a:t>Cross-border perishable
compliance gap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2057400"/>
            <a:ext cx="2606040" cy="2606040"/>
          </a:xfrm>
          <a:prstGeom prst="ellipse">
            <a:avLst/>
          </a:prstGeom>
          <a:solidFill>
            <a:srgbClr val="2A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$12B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82803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4556A"/>
                </a:solidFill>
                <a:latin typeface="Calibri"/>
              </a:rPr>
              <a:t>Pre-shipment trade
finance opportunity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108192"/>
            <a:ext cx="11274552" cy="548640"/>
          </a:xfrm>
          <a:prstGeom prst="rect">
            <a:avLst/>
          </a:prstGeom>
          <a:solidFill>
            <a:srgbClr val="E8F4ED"/>
          </a:solidFill>
          <a:ln w="762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163056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6A"/>
                </a:solidFill>
                <a:latin typeface="Calibri"/>
              </a:rPr>
              <a:t>Starting wedge: Peruvian mango exporters — 320,000 families, $850M in annual exports. Every season creates demand for compliance certainty.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4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EE8C0"/>
                </a:solidFill>
                <a:latin typeface="Calibri"/>
              </a:rPr>
              <a:t>S   D   G       I   M   P   A   C  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 impact on the world's two most urgent food-system goals.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40"/>
            <a:ext cx="2194560" cy="2194560"/>
          </a:xfrm>
          <a:prstGeom prst="rect">
            <a:avLst/>
          </a:prstGeom>
          <a:solidFill>
            <a:srgbClr val="E5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2194560" cy="395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194560" cy="48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0" i="0">
                <a:solidFill>
                  <a:srgbClr val="E5243B"/>
                </a:solidFill>
                <a:latin typeface="Calibri"/>
              </a:rPr>
              <a:t>SUSTAINABLE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86660"/>
            <a:ext cx="21945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359505"/>
            <a:ext cx="2194560" cy="526694"/>
          </a:xfrm>
          <a:prstGeom prst="rect">
            <a:avLst/>
          </a:prstGeom>
          <a:solidFill>
            <a:srgbClr val="E5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59505"/>
            <a:ext cx="2194560" cy="526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NO POVERTY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737360"/>
            <a:ext cx="8595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SDG 1 — No Poverty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359152"/>
            <a:ext cx="8595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9EE8C0"/>
                </a:solidFill>
                <a:latin typeface="Calibri"/>
              </a:rPr>
              <a:t>320,000 smallholder farming families in Peru and Mexico cannot access pre-shipment financing because no lender can verify readiness without waiting weeks for documents.
Verifield changes this: lenders query the Evidence Pack hash and release capital the same day a shipment achieves import_ready status. Certainty unlocks credit.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434840"/>
            <a:ext cx="11000232" cy="36576"/>
          </a:xfrm>
          <a:prstGeom prst="rect">
            <a:avLst/>
          </a:prstGeom>
          <a:solidFill>
            <a:srgbClr val="2A6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4663440"/>
            <a:ext cx="2194560" cy="2194560"/>
          </a:xfrm>
          <a:prstGeom prst="rect">
            <a:avLst/>
          </a:prstGeom>
          <a:solidFill>
            <a:srgbClr val="DD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663440"/>
            <a:ext cx="2194560" cy="395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63440"/>
            <a:ext cx="2194560" cy="48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0" i="0">
                <a:solidFill>
                  <a:srgbClr val="DDA63A"/>
                </a:solidFill>
                <a:latin typeface="Calibri"/>
              </a:rPr>
              <a:t>SUSTAINABLE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58460"/>
            <a:ext cx="21945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331305"/>
            <a:ext cx="2194560" cy="526694"/>
          </a:xfrm>
          <a:prstGeom prst="rect">
            <a:avLst/>
          </a:prstGeom>
          <a:solidFill>
            <a:srgbClr val="DD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331305"/>
            <a:ext cx="2194560" cy="526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ZERO HUNGER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709160"/>
            <a:ext cx="8595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SDG 2 — Zero Hunger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303520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9EE8C0"/>
                </a:solidFill>
                <a:latin typeface="Calibri"/>
              </a:rPr>
              <a:t>Every hour of export delay is food that spoils instead of feeding a family. Verifield reduces decision time from 72 hours to 3 minutes — turning compliance uncertainty from a structural cause of food waste into a solved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C98A"/>
                </a:solidFill>
                <a:latin typeface="Calibri"/>
              </a:rPr>
              <a:t>T   R   A   C   T   I   O   N       &amp;       T   E   C  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81C38"/>
                </a:solidFill>
                <a:latin typeface="Georgia"/>
              </a:rPr>
              <a:t>Production-ready. Not a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C38"/>
                </a:solidFill>
                <a:latin typeface="Calibri"/>
              </a:rPr>
              <a:t>What's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84831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0574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638"/>
                </a:solidFill>
                <a:latin typeface="Calibri"/>
              </a:rPr>
              <a:t>9 core primitives — fully implemented and tested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33472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6060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638"/>
                </a:solidFill>
                <a:latin typeface="Calibri"/>
              </a:rPr>
              <a:t>7 demo consignment cases across all 6 formal states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182111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1546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638"/>
                </a:solidFill>
                <a:latin typeface="Calibri"/>
              </a:rPr>
              <a:t>Hedera HCS anchoring live on testnet (topic 0.0.8535355)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730752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7033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638"/>
                </a:solidFill>
                <a:latin typeface="Calibri"/>
              </a:rPr>
              <a:t>Row Level Security — 17-actor access model enforced at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279392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25196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638"/>
                </a:solidFill>
                <a:latin typeface="Calibri"/>
              </a:rPr>
              <a:t>44 integration test assertions — TypeScript strict, Vitest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828031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8006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638"/>
                </a:solidFill>
                <a:latin typeface="Calibri"/>
              </a:rPr>
              <a:t>Zero stub pages — every route shows real Supabase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376671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53492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638"/>
                </a:solidFill>
                <a:latin typeface="Calibri"/>
              </a:rPr>
              <a:t>MangoChainRegistry.sol deployed on Polygon Amoy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925312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58978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638"/>
                </a:solidFill>
                <a:latin typeface="Calibri"/>
              </a:rPr>
              <a:t>Full demo seeded in &lt; 30 seconds with npm run seed:demo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1417320"/>
            <a:ext cx="5230368" cy="5193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1417320"/>
            <a:ext cx="5230368" cy="73152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15361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C38"/>
                </a:solidFill>
                <a:latin typeface="Calibri"/>
              </a:rPr>
              <a:t>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08483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C98A"/>
                </a:solidFill>
                <a:latin typeface="Courier New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35915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A"/>
                </a:solidFill>
                <a:latin typeface="Calibri"/>
              </a:rPr>
              <a:t>React 18 · TypeScript · Vite · Tailwind · Shadcn/ui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84848" y="2743200"/>
            <a:ext cx="4663440" cy="22860"/>
          </a:xfrm>
          <a:prstGeom prst="rect">
            <a:avLst/>
          </a:prstGeom>
          <a:solidFill>
            <a:srgbClr val="EC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28163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C98A"/>
                </a:solidFill>
                <a:latin typeface="Courier New"/>
              </a:rP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30906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A"/>
                </a:solidFill>
                <a:latin typeface="Calibri"/>
              </a:rPr>
              <a:t>Supabase · PostgreSQL · Row Level Security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3474720"/>
            <a:ext cx="4663440" cy="22860"/>
          </a:xfrm>
          <a:prstGeom prst="rect">
            <a:avLst/>
          </a:prstGeom>
          <a:solidFill>
            <a:srgbClr val="EC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3547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C98A"/>
                </a:solidFill>
                <a:latin typeface="Courier New"/>
              </a:rPr>
              <a:t>ANCHORING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82219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A"/>
                </a:solidFill>
                <a:latin typeface="Calibri"/>
              </a:rPr>
              <a:t>Hedera HCS · Consensus Service · Mirror Node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4848" y="4206240"/>
            <a:ext cx="4663440" cy="22860"/>
          </a:xfrm>
          <a:prstGeom prst="rect">
            <a:avLst/>
          </a:prstGeom>
          <a:solidFill>
            <a:srgbClr val="EC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42793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C98A"/>
                </a:solidFill>
                <a:latin typeface="Courier New"/>
              </a:rPr>
              <a:t>CONTRACT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4553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A"/>
                </a:solidFill>
                <a:latin typeface="Calibri"/>
              </a:rPr>
              <a:t>Solidity 0.8.20 · Verifield Registry · Polygon Amoy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4848" y="4937759"/>
            <a:ext cx="4663440" cy="22860"/>
          </a:xfrm>
          <a:prstGeom prst="rect">
            <a:avLst/>
          </a:prstGeom>
          <a:solidFill>
            <a:srgbClr val="EC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50109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C98A"/>
                </a:solidFill>
                <a:latin typeface="Courier New"/>
              </a:rPr>
              <a:t>WALLET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52852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A"/>
                </a:solidFill>
                <a:latin typeface="Calibri"/>
              </a:rPr>
              <a:t>Wagmi v2 · Viem · RainbowKit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84848" y="5669280"/>
            <a:ext cx="4663440" cy="22860"/>
          </a:xfrm>
          <a:prstGeom prst="rect">
            <a:avLst/>
          </a:prstGeom>
          <a:solidFill>
            <a:srgbClr val="EC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4848" y="574243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C98A"/>
                </a:solidFill>
                <a:latin typeface="Courier New"/>
              </a:rPr>
              <a:t>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601675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A"/>
                </a:solidFill>
                <a:latin typeface="Calibri"/>
              </a:rPr>
              <a:t>Vitest · 44 assertions · TypeScript strict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C98A"/>
                </a:solidFill>
                <a:latin typeface="Calibri"/>
              </a:rPr>
              <a:t>R   O   A   D   M   A   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Three phases to ecosystem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19072"/>
            <a:ext cx="3639312" cy="4800600"/>
          </a:xfrm>
          <a:prstGeom prst="rect">
            <a:avLst/>
          </a:prstGeom>
          <a:solidFill>
            <a:srgbClr val="102A52"/>
          </a:solidFill>
          <a:ln w="19050">
            <a:solidFill>
              <a:srgbClr val="3E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83664"/>
            <a:ext cx="932688" cy="34747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83664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81C38"/>
                </a:solidFill>
                <a:latin typeface="Calibri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" y="1920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EB8"/>
                </a:solidFill>
                <a:latin typeface="Calibri"/>
              </a:rPr>
              <a:t>Apr – Jul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EC98A"/>
                </a:solidFill>
                <a:latin typeface="Courier New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3814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2 exportadora partners in Piura, Peru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59935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SUNAT &amp; SENASA API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8172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First real Evidence Pack on mainnet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Pre-shipment financing pilot — 1 lender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1719072"/>
            <a:ext cx="3639312" cy="4800600"/>
          </a:xfrm>
          <a:prstGeom prst="rect">
            <a:avLst/>
          </a:prstGeom>
          <a:solidFill>
            <a:srgbClr val="102A52"/>
          </a:solidFill>
          <a:ln w="19050">
            <a:solidFill>
              <a:srgbClr val="F5A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35424" y="1883664"/>
            <a:ext cx="932688" cy="347472"/>
          </a:xfrm>
          <a:prstGeom prst="rect">
            <a:avLst/>
          </a:prstGeom>
          <a:solidFill>
            <a:srgbClr val="F5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883664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81C38"/>
                </a:solidFill>
                <a:latin typeface="Calibri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8696" y="1920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EB8"/>
                </a:solidFill>
                <a:latin typeface="Calibri"/>
              </a:rPr>
              <a:t>Aug – Dec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237744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A00A"/>
                </a:solidFill>
                <a:latin typeface="Courier New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74320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43814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10 exporters across Peru &amp; Mexico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059935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Importer verification portal (US + EU)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68172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Financing readiness score (bank-grade)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Protocol fee: $8–12 per anchored shipment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93608" y="1719072"/>
            <a:ext cx="3639312" cy="4800600"/>
          </a:xfrm>
          <a:prstGeom prst="rect">
            <a:avLst/>
          </a:prstGeom>
          <a:solidFill>
            <a:srgbClr val="102A52"/>
          </a:solidFill>
          <a:ln w="19050">
            <a:solidFill>
              <a:srgbClr val="9EE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30768" y="1883664"/>
            <a:ext cx="932688" cy="347472"/>
          </a:xfrm>
          <a:prstGeom prst="rect">
            <a:avLst/>
          </a:prstGeom>
          <a:solidFill>
            <a:srgbClr val="9EE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1883664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81C38"/>
                </a:solidFill>
                <a:latin typeface="Calibri"/>
              </a:rPr>
              <a:t>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1920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EB8"/>
                </a:solidFill>
                <a:latin typeface="Calibri"/>
              </a:rPr>
              <a:t>2027+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237744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EE8C0"/>
                </a:solidFill>
                <a:latin typeface="Courier New"/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274320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Ecosystem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343814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Open protocol for any perishable commodity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4059935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US CBP + EU customs API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6488" y="468172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DeFi-backed trade finance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A9EB8"/>
                </a:solidFill>
                <a:latin typeface="Calibri"/>
              </a:rPr>
              <a:t>   100,000+ shipments verified annually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C98A"/>
                </a:solidFill>
                <a:latin typeface="Calibri"/>
              </a:rPr>
              <a:t>T   H   E       T   E   A  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Built at
TKS &amp; Velocity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 i="0">
                <a:solidFill>
                  <a:srgbClr val="8A9EB8"/>
                </a:solidFill>
                <a:latin typeface="Calibri"/>
              </a:rPr>
              <a:t>TKS (The Knowledge Society) is a human accelerator that develops the world's most impactful young innovators. Velocity is TKS's moonshot track.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83280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5584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E8C0"/>
                </a:solidFill>
                <a:latin typeface="Calibri"/>
              </a:rPr>
              <a:t>Full-stack engineer — React 18, TypeScript, Supabase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977640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5020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E8C0"/>
                </a:solidFill>
                <a:latin typeface="Calibri"/>
              </a:rPr>
              <a:t>Blockchain — Hedera HCS, Solidity 0.8.20, Wagmi 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4456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E8C0"/>
                </a:solidFill>
                <a:latin typeface="Calibri"/>
              </a:rPr>
              <a:t>Supply chain research — SENASA, SUNAT, trade finance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166360"/>
            <a:ext cx="256032" cy="25603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3892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E8C0"/>
                </a:solidFill>
                <a:latin typeface="Calibri"/>
              </a:rPr>
              <a:t>SDG-driven product thesis validated with real exporters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5120640" cy="34747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81C38"/>
                </a:solidFill>
                <a:latin typeface="Calibri"/>
              </a:rPr>
              <a:t>Google Factory X Moonshot  ·  April 18 – May 10,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C98A"/>
                </a:solidFill>
                <a:latin typeface="Calibri"/>
              </a:rPr>
              <a:t>T   H   E       A   S  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658368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3000" b="1" i="0">
                <a:solidFill>
                  <a:srgbClr val="081C38"/>
                </a:solidFill>
                <a:latin typeface="Georgia"/>
              </a:rPr>
              <a:t>What we need
to go to market.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148840"/>
            <a:ext cx="5559552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148840"/>
            <a:ext cx="82296" cy="98755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24028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C38"/>
                </a:solidFill>
                <a:latin typeface="Calibri"/>
              </a:rPr>
              <a:t>Partner Introductions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624328"/>
            <a:ext cx="5230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4556A"/>
                </a:solidFill>
                <a:latin typeface="Calibri"/>
              </a:rPr>
              <a:t>2–3 mango exporters in Piura ready to pilot and share real shipment data with Verifield.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246120"/>
            <a:ext cx="5559552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246120"/>
            <a:ext cx="82296" cy="98755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33756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C38"/>
                </a:solidFill>
                <a:latin typeface="Calibri"/>
              </a:rPr>
              <a:t>Regulatory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721608"/>
            <a:ext cx="5230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4556A"/>
                </a:solidFill>
                <a:latin typeface="Calibri"/>
              </a:rPr>
              <a:t>Connection to SUNAT / SENASA technical teams for API integration and protocol recognition.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343400"/>
            <a:ext cx="5559552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343400"/>
            <a:ext cx="82296" cy="98755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43484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C38"/>
                </a:solidFill>
                <a:latin typeface="Calibri"/>
              </a:rPr>
              <a:t>Financing Partner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4818888"/>
            <a:ext cx="5230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4556A"/>
                </a:solidFill>
                <a:latin typeface="Calibri"/>
              </a:rPr>
              <a:t>One bank or fintech willing to trigger pre-shipment capital release from an anchored Evidence Pack.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5440679"/>
            <a:ext cx="5559552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5440679"/>
            <a:ext cx="82296" cy="987552"/>
          </a:xfrm>
          <a:prstGeom prst="rect">
            <a:avLst/>
          </a:prstGeom>
          <a:solidFill>
            <a:srgbClr val="3E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5532119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C38"/>
                </a:solidFill>
                <a:latin typeface="Calibri"/>
              </a:rPr>
              <a:t>Mentorship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5916167"/>
            <a:ext cx="5230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4556A"/>
                </a:solidFill>
                <a:latin typeface="Calibri"/>
              </a:rPr>
              <a:t>Advisors with experience in trade finance, customs automation, or agri-supply chain at scale.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6473952"/>
            <a:ext cx="5559552" cy="329184"/>
          </a:xfrm>
          <a:prstGeom prst="rect">
            <a:avLst/>
          </a:prstGeom>
          <a:solidFill>
            <a:srgbClr val="E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6473952"/>
            <a:ext cx="5559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4556A"/>
                </a:solidFill>
                <a:latin typeface="Calibri"/>
              </a:rPr>
              <a:t>"We don't sell traceability. We sell certainty. And certainty has a price."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