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2011680" cy="43891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20116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🥭  HARVESTLINK PROTOCOL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5156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FFFFFF"/>
                </a:solidFill>
                <a:latin typeface="Georgia"/>
              </a:rPr>
              <a:t>HarvestLink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5176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5D5B2"/>
                </a:solidFill>
                <a:latin typeface="Calibri"/>
              </a:rPr>
              <a:t>Verifiable supply-chain compliance for perishable exports</a:t>
            </a:r>
          </a:p>
          <a:p>
            <a:pPr algn="l"/>
            <a:r>
              <a:rPr sz="1700" b="0" i="0">
                <a:solidFill>
                  <a:srgbClr val="95D5B2"/>
                </a:solidFill>
                <a:latin typeface="Calibri"/>
              </a:rPr>
              <a:t>from farm to customs — anchored on Hedera.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5120640"/>
            <a:ext cx="1005840" cy="502920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SDG 1</a:t>
            </a:r>
          </a:p>
        </p:txBody>
      </p:sp>
      <p:sp>
        <p:nvSpPr>
          <p:cNvPr id="9" name="Rectangle 8"/>
          <p:cNvSpPr/>
          <p:nvPr/>
        </p:nvSpPr>
        <p:spPr>
          <a:xfrm>
            <a:off x="1645920" y="5120640"/>
            <a:ext cx="1005840" cy="502920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SDG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88920" y="5120640"/>
            <a:ext cx="1005840" cy="502920"/>
          </a:xfrm>
          <a:prstGeom prst="rect">
            <a:avLst/>
          </a:prstGeom>
          <a:solidFill>
            <a:srgbClr val="B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SDG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5120640"/>
            <a:ext cx="1005840" cy="502920"/>
          </a:xfrm>
          <a:prstGeom prst="rect">
            <a:avLst/>
          </a:prstGeom>
          <a:solidFill>
            <a:srgbClr val="194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1206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SDG 17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03920" y="502920"/>
            <a:ext cx="3246120" cy="5897880"/>
          </a:xfrm>
          <a:prstGeom prst="rect">
            <a:avLst/>
          </a:prstGeom>
          <a:solidFill>
            <a:srgbClr val="13315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6858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52B788"/>
                </a:solidFill>
                <a:latin typeface="Courier New"/>
              </a:rPr>
              <a:t>EVIDENCE  PACK  ·  CS-2026-001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114300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D5B2"/>
                </a:solidFill>
                <a:latin typeface="Courier New"/>
              </a:rPr>
              <a:t>sha256: a3f1c9b72e...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41080" y="142646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├─ phyto_certificate.pdf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170992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├─ lab_report_kent.pdf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41080" y="1993391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├─ senasa_inspection.json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227685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├─ cold_chain_log.csv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256032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└─ customs_manifest.xml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41080" y="284378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41080" y="312724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5D5B2"/>
                </a:solidFill>
                <a:latin typeface="Courier New"/>
              </a:rPr>
              <a:t>merkle_root: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41080" y="341071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2B788"/>
                </a:solidFill>
                <a:latin typeface="Courier New"/>
              </a:rPr>
              <a:t>52b788a1f3c9d204...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69417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41080" y="3977639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⛓  HEDERA HCS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4261104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topic: 0.0.8535355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41080" y="4544568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sequence: 42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41080" y="4828032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>consensus: 2026-04-14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5111496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ourier New"/>
              </a:rPr>
              <a:t/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41080" y="5394960"/>
            <a:ext cx="3017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✓  VERIFIED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263640"/>
            <a:ext cx="7315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  <a:latin typeface="Calibri"/>
              </a:rPr>
              <a:t>Google Factory X Moonshot  ·  TKS &amp; Velocity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H  E     P  R  O  B  L  E 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0" b="1" i="0">
                <a:solidFill>
                  <a:srgbClr val="0B2545"/>
                </a:solidFill>
                <a:latin typeface="Georgia"/>
              </a:rPr>
              <a:t>$2.6B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606040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475569"/>
                </a:solidFill>
                <a:latin typeface="Calibri"/>
              </a:rPr>
              <a:t>lost annually in rejected or delayed
perishable export shipments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474720"/>
            <a:ext cx="5029200" cy="1325880"/>
          </a:xfrm>
          <a:prstGeom prst="rect">
            <a:avLst/>
          </a:prstGeom>
          <a:solidFill>
            <a:srgbClr val="FEF3C7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584448"/>
            <a:ext cx="4754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2400E"/>
                </a:solidFill>
                <a:latin typeface="Calibri"/>
              </a:rPr>
              <a:t>320,000 smallholder farming families in Peru &amp; Mexico </a:t>
            </a:r>
          </a:p>
          <a:p>
            <a:pPr algn="l"/>
            <a:r>
              <a:rPr sz="1200" b="0" i="1">
                <a:solidFill>
                  <a:srgbClr val="92400E"/>
                </a:solidFill>
                <a:latin typeface="Calibri"/>
              </a:rPr>
              <a:t>face income loss from export delays they cannot control — or even see coming.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502920"/>
            <a:ext cx="36576" cy="5943600"/>
          </a:xfrm>
          <a:prstGeom prst="rect">
            <a:avLst/>
          </a:prstGeom>
          <a:solidFill>
            <a:srgbClr val="E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548640"/>
            <a:ext cx="539496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548640"/>
            <a:ext cx="73152" cy="181051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7132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📁  Fragmented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17043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Phyto cert in one portal, lab report in an email, inspection in a PDF. No single source of truth.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2560320"/>
            <a:ext cx="539496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2560320"/>
            <a:ext cx="73152" cy="181051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72491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❓  No verifiable readiness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18211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Importers, banks, and customs have no way to confirm a shipment is compliant before it ships.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4572000"/>
            <a:ext cx="5394960" cy="18105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4572000"/>
            <a:ext cx="73152" cy="1810512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47365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Calibri"/>
              </a:rPr>
              <a:t>⏱  Decisions take 72+ hours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193792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Every delay is spoilage. One 48-hour hold can mean a season's income lost for a small farm.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H  E     S  O  L  U  T  I  O 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Georgia"/>
              </a:rPr>
              <a:t>A Consignment Readiness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1556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5D5B2"/>
                </a:solidFill>
                <a:latin typeface="Calibri"/>
              </a:rPr>
              <a:t>HarvestLink groups all compliance evidence for a shipment, validates it through a formal state machine,</a:t>
            </a:r>
          </a:p>
          <a:p>
            <a:pPr algn="l"/>
            <a:r>
              <a:rPr sz="1400" b="0" i="0">
                <a:solidFill>
                  <a:srgbClr val="95D5B2"/>
                </a:solidFill>
                <a:latin typeface="Calibri"/>
              </a:rPr>
              <a:t>and generates a cryptographically verifiable Evidence Pack — anchored immutably on Hedera Consensus Service.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834640"/>
            <a:ext cx="3657600" cy="3401568"/>
          </a:xfrm>
          <a:prstGeom prst="rect">
            <a:avLst/>
          </a:prstGeom>
          <a:solidFill>
            <a:srgbClr val="13315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99923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2B788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749039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Consignment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3159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Groups lots, evidence, attestations, and custody transfers into a single decision object with formal state tracking.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2834640"/>
            <a:ext cx="3657600" cy="3401568"/>
          </a:xfrm>
          <a:prstGeom prst="rect">
            <a:avLst/>
          </a:prstGeom>
          <a:solidFill>
            <a:srgbClr val="13315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299923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2B788"/>
                </a:solidFill>
                <a:latin typeface="Georgia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3749039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Evidence Pack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3159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SHA-256 Merkle root of all compliance documents — one hash that represents the entire readiness state of a shipment.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834640"/>
            <a:ext cx="3657600" cy="3401568"/>
          </a:xfrm>
          <a:prstGeom prst="rect">
            <a:avLst/>
          </a:prstGeom>
          <a:solidFill>
            <a:srgbClr val="13315C"/>
          </a:solidFill>
          <a:ln w="127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19" y="2999232"/>
            <a:ext cx="8229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52B788"/>
                </a:solidFill>
                <a:latin typeface="Georgia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19" y="3749039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Hedera Anchor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03919" y="4315968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94A3B8"/>
                </a:solidFill>
                <a:latin typeface="Calibri"/>
              </a:rPr>
              <a:t>The pack hash is anchored on Hedera HCS. Anyone can verify independently via the Mirror Node. No intermediary.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718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59E0B"/>
                </a:solidFill>
                <a:latin typeface="Calibri"/>
              </a:rPr>
              <a:t>Decision time: 72 hours  →  3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H  O  W     I  T     W  O  R  K  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B2545"/>
                </a:solidFill>
                <a:latin typeface="Georgia"/>
              </a:rPr>
              <a:t>Formal State Machine + Immutable Anchoring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1719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85415" y="1920240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04288" y="1600200"/>
            <a:ext cx="1719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evidence
collecting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32504" y="1920240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51376" y="1600200"/>
            <a:ext cx="1719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docs
complete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61%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79592" y="1920240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98464" y="1600200"/>
            <a:ext cx="1719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71616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treatment
attested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71616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75%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1920240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45552" y="1600200"/>
            <a:ext cx="1719072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18704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E293B"/>
                </a:solidFill>
                <a:latin typeface="Calibri"/>
              </a:rPr>
              <a:t>custody
continuous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18704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2B788"/>
                </a:solidFill>
                <a:latin typeface="Calibri"/>
              </a:rPr>
              <a:t>88%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1920240"/>
            <a:ext cx="2377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692640" y="1600200"/>
            <a:ext cx="1719072" cy="960120"/>
          </a:xfrm>
          <a:prstGeom prst="rect">
            <a:avLst/>
          </a:prstGeom>
          <a:solidFill>
            <a:srgbClr val="52B78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65792" y="1691640"/>
            <a:ext cx="15727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0B2545"/>
                </a:solidFill>
                <a:latin typeface="Calibri"/>
              </a:rPr>
              <a:t>import
ready 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65792" y="2295144"/>
            <a:ext cx="157276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B2545"/>
                </a:solidFill>
                <a:latin typeface="Calibri"/>
              </a:rPr>
              <a:t>96%+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2743200"/>
            <a:ext cx="11274552" cy="658368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816352"/>
            <a:ext cx="110642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91B1B"/>
                </a:solidFill>
                <a:latin typeface="Calibri"/>
              </a:rPr>
              <a:t>⚠  Any blocking exception (missing certificate, cold-chain deviation, failed inspection) halts state progression immediately.  Decision Sentinel: ❌ Not Ready.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566160"/>
            <a:ext cx="5394960" cy="29260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57200" y="3566160"/>
            <a:ext cx="539496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67588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B2545"/>
                </a:solidFill>
                <a:latin typeface="Calibri"/>
              </a:rPr>
              <a:t>🗄  Off-chain  ·  Supabase + Row Level Security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1605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✓  Evidence objects, attestations, custody transfers, exceptions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48463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✓  Each actor sees only what their role authorizes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5532120"/>
            <a:ext cx="50292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475569"/>
                </a:solidFill>
                <a:latin typeface="Calibri"/>
              </a:rPr>
              <a:t>✓  Zero PII, raw documents, or sensitive data on-chain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566160"/>
            <a:ext cx="5394960" cy="292608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566160"/>
            <a:ext cx="5394960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3675887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2B788"/>
                </a:solidFill>
                <a:latin typeface="Calibri"/>
              </a:rPr>
              <a:t>⛓  On-chain  ·  Hedera HCS + Polygon Amoy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4160520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✓  Only SHA-256 Merkle root of Evidence Pack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46520" y="4846320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✓  Consensus timestamp + sequence number from Hedera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5532120"/>
            <a:ext cx="5166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✓  Publicly verifiable via Mirror Node — no login required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331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H  E     P  R  O  D  U  C 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Three views. One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657600" cy="4800600"/>
          </a:xfrm>
          <a:prstGeom prst="rect">
            <a:avLst/>
          </a:prstGeom>
          <a:solidFill>
            <a:srgbClr val="0F2040"/>
          </a:solidFill>
          <a:ln w="9525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657600" cy="82296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74519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Consignment Workbench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2B788"/>
                </a:solidFill>
                <a:latin typeface="Courier New"/>
              </a:rPr>
              <a:t>/consignments/:id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Evidence Coverage Matrix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438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Attestations from 17 protocol actors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9684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Custody chain timeline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498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Decision Sentinel — real-time go/no-go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6199632"/>
            <a:ext cx="3291840" cy="2377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19963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👤  Export Manager · Compliance Lead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1691640"/>
            <a:ext cx="3657600" cy="4800600"/>
          </a:xfrm>
          <a:prstGeom prst="rect">
            <a:avLst/>
          </a:prstGeom>
          <a:solidFill>
            <a:srgbClr val="0F2040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1691640"/>
            <a:ext cx="3657600" cy="8229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26280" y="1874519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Readiness Pipeline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59E0B"/>
                </a:solidFill>
                <a:latin typeface="Courier New"/>
              </a:rPr>
              <a:t>/readiness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All cases across all 6 states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6280" y="3438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Blocking exceptions flagged inline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684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Completeness % per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498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One-click drill-down to workbench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6199632"/>
            <a:ext cx="3291840" cy="2377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80" y="619963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👤  Compliance Lead · Auditor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19" y="1691640"/>
            <a:ext cx="3657600" cy="4800600"/>
          </a:xfrm>
          <a:prstGeom prst="rect">
            <a:avLst/>
          </a:prstGeom>
          <a:solidFill>
            <a:srgbClr val="0F2040"/>
          </a:solidFill>
          <a:ln w="9525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75319" y="1691640"/>
            <a:ext cx="3657600" cy="8229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58199" y="1874519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Public Verifier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58199" y="24688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5D5B2"/>
                </a:solidFill>
                <a:latin typeface="Courier New"/>
              </a:rPr>
              <a:t>/verify-pack  (no login)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199" y="290779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Type any case number or pack hash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199" y="343814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Live Hedera Mirror Node query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199" y="39684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Trusted by anyone, anywhere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199" y="44988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94A3B8"/>
                </a:solidFill>
                <a:latin typeface="Calibri"/>
              </a:rPr>
              <a:t>✓  No account, no intermediary needed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58199" y="6199632"/>
            <a:ext cx="3291840" cy="237744"/>
          </a:xfrm>
          <a:prstGeom prst="rect">
            <a:avLst/>
          </a:prstGeom>
          <a:solidFill>
            <a:srgbClr val="1A3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58199" y="6199632"/>
            <a:ext cx="32918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Calibri"/>
              </a:rPr>
              <a:t>👤  Importer · Customs Officer · Financier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M  A  R  K  E  T     O  P  P  O  R  T  U  N  I  T  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0B2545"/>
                </a:solidFill>
                <a:latin typeface="Georgia"/>
              </a:rPr>
              <a:t>A massive, underserved market
with a clear wedge.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011680"/>
            <a:ext cx="2560320" cy="2560320"/>
          </a:xfrm>
          <a:prstGeom prst="ellipse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39572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$1.5T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73168"/>
            <a:ext cx="2926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Global fresh produce
export market</a:t>
            </a:r>
          </a:p>
        </p:txBody>
      </p:sp>
      <p:sp>
        <p:nvSpPr>
          <p:cNvPr id="8" name="Oval 7"/>
          <p:cNvSpPr/>
          <p:nvPr/>
        </p:nvSpPr>
        <p:spPr>
          <a:xfrm>
            <a:off x="4526280" y="2011680"/>
            <a:ext cx="2560320" cy="256032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39572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$240B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4773168"/>
            <a:ext cx="2926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Cross-border perishable
compliance gap</a:t>
            </a:r>
          </a:p>
        </p:txBody>
      </p:sp>
      <p:sp>
        <p:nvSpPr>
          <p:cNvPr id="11" name="Oval 10"/>
          <p:cNvSpPr/>
          <p:nvPr/>
        </p:nvSpPr>
        <p:spPr>
          <a:xfrm>
            <a:off x="8321040" y="2011680"/>
            <a:ext cx="2560320" cy="256032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395728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Georgia"/>
              </a:rPr>
              <a:t>$12B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0" y="4773168"/>
            <a:ext cx="2926079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</a:pPr>
            <a:r>
              <a:rPr sz="1200" b="0" i="0">
                <a:solidFill>
                  <a:srgbClr val="475569"/>
                </a:solidFill>
                <a:latin typeface="Calibri"/>
              </a:rPr>
              <a:t>Pre-shipment trade
finance opportunity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126480"/>
            <a:ext cx="11274552" cy="530352"/>
          </a:xfrm>
          <a:prstGeom prst="rect">
            <a:avLst/>
          </a:prstGeom>
          <a:solidFill>
            <a:srgbClr val="E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17220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475569"/>
                </a:solidFill>
                <a:latin typeface="Calibri"/>
              </a:rPr>
              <a:t>Wedge: Peruvian mango exporters — 320,000 families, $850M in annual exports to the US and EU markets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95D5B2"/>
                </a:solidFill>
                <a:latin typeface="Calibri"/>
              </a:rPr>
              <a:t>S  D  G     I  M  P  A  C  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Georgia"/>
              </a:rPr>
              <a:t>Four global goals. One protocol.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37360"/>
            <a:ext cx="5486400" cy="2286000"/>
          </a:xfrm>
          <a:prstGeom prst="rect">
            <a:avLst/>
          </a:prstGeom>
          <a:solidFill>
            <a:srgbClr val="1E5140"/>
          </a:solidFill>
          <a:ln w="25400">
            <a:solidFill>
              <a:srgbClr val="E524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37360"/>
            <a:ext cx="658368" cy="2286000"/>
          </a:xfrm>
          <a:prstGeom prst="rect">
            <a:avLst/>
          </a:prstGeom>
          <a:solidFill>
            <a:srgbClr val="E5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SDG 1  —  No Poverty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377439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 i="0">
                <a:solidFill>
                  <a:srgbClr val="95D5B2"/>
                </a:solidFill>
                <a:latin typeface="Calibri"/>
              </a:rPr>
              <a:t>Smallholder farmers access pre-shipment financing because lenders can verify readiness in real time — without waiting for documents to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737360"/>
            <a:ext cx="5486400" cy="2286000"/>
          </a:xfrm>
          <a:prstGeom prst="rect">
            <a:avLst/>
          </a:prstGeom>
          <a:solidFill>
            <a:srgbClr val="1E5140"/>
          </a:solidFill>
          <a:ln w="25400">
            <a:solidFill>
              <a:srgbClr val="DDA6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737360"/>
            <a:ext cx="658368" cy="2286000"/>
          </a:xfrm>
          <a:prstGeom prst="rect">
            <a:avLst/>
          </a:prstGeom>
          <a:solidFill>
            <a:srgbClr val="DDA6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468880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1874519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SDG 2  —  Zero Hunger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77439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 i="0">
                <a:solidFill>
                  <a:srgbClr val="95D5B2"/>
                </a:solidFill>
                <a:latin typeface="Calibri"/>
              </a:rPr>
              <a:t>Minutes saved per compliance decision = produce that reaches consumers instead of landfill. Every delay avoided is food preserved.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206240"/>
            <a:ext cx="5486400" cy="2286000"/>
          </a:xfrm>
          <a:prstGeom prst="rect">
            <a:avLst/>
          </a:prstGeom>
          <a:solidFill>
            <a:srgbClr val="1E5140"/>
          </a:solidFill>
          <a:ln w="25400">
            <a:solidFill>
              <a:srgbClr val="BF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206240"/>
            <a:ext cx="658368" cy="2286000"/>
          </a:xfrm>
          <a:prstGeom prst="rect">
            <a:avLst/>
          </a:prstGeom>
          <a:solidFill>
            <a:srgbClr val="BF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937759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SDG 12  —  Responsible Consumption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84632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 i="0">
                <a:solidFill>
                  <a:srgbClr val="95D5B2"/>
                </a:solidFill>
                <a:latin typeface="Calibri"/>
              </a:rPr>
              <a:t>Importers and retailers get a tamper-evident audit trail of every document, inspection, and custody transfer for every shipment they buy.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55080" y="4206240"/>
            <a:ext cx="5486400" cy="2286000"/>
          </a:xfrm>
          <a:prstGeom prst="rect">
            <a:avLst/>
          </a:prstGeom>
          <a:solidFill>
            <a:srgbClr val="1E5140"/>
          </a:solidFill>
          <a:ln w="25400">
            <a:solidFill>
              <a:srgbClr val="1948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4206240"/>
            <a:ext cx="658368" cy="2286000"/>
          </a:xfrm>
          <a:prstGeom prst="rect">
            <a:avLst/>
          </a:prstGeom>
          <a:solidFill>
            <a:srgbClr val="1948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937759"/>
            <a:ext cx="6583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Georgia"/>
              </a:rPr>
              <a:t>17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32320" y="43434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SDG 17  —  Partnerships for the Goals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4846320"/>
            <a:ext cx="45720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8000"/>
              </a:lnSpc>
            </a:pPr>
            <a:r>
              <a:rPr sz="1150" b="0" i="0">
                <a:solidFill>
                  <a:srgbClr val="95D5B2"/>
                </a:solidFill>
                <a:latin typeface="Calibri"/>
              </a:rPr>
              <a:t>A 17-actor open protocol creates a shared authoritative record — enabling coordination that was impossible without a trusted intermediary.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R  A  C  T  I  O  N     &amp;     T  E  C  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B2545"/>
                </a:solidFill>
                <a:latin typeface="Georgia"/>
              </a:rPr>
              <a:t>Production-ready. Not a prototype.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5943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What's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6654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9 core primitives — fully implemented and tested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151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7 demo consignment cases across all 6 formal states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00400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638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Hedera HCS anchoring live on testnet (topic 0.0.8535355)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49039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71246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Row Level Security — 17-actor access model enforced at DB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79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26110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44 integration test assertions — TypeScript strict, Vitest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846320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80974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Zero stub pages — every route shows real Supabase data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394959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58383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MangoChainRegistry.sol deployed on Polygon Amoy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943600"/>
            <a:ext cx="256032" cy="25603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90702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Calibri"/>
              </a:rPr>
              <a:t>Full demo seeded in &lt; 30 seconds with npm run seed:demo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0" y="1417320"/>
            <a:ext cx="5212080" cy="5166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66560" y="1572768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B2545"/>
                </a:solidFill>
                <a:latin typeface="Calibri"/>
              </a:rPr>
              <a:t>Tech Stack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21488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42316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React 18 · TypeScript · Vite · Tailwind · Shadcn/ui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766560" y="2807208"/>
            <a:ext cx="466344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DATABASE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15468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Supabase · PostgreSQL · Row Level Security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538728"/>
            <a:ext cx="466344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36118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ANCHORING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388620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Hedera HCS · Consensus Service · Mirror Node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766560" y="4270248"/>
            <a:ext cx="466344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4343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CONTRACT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461772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Solidity 0.8.20 · MangoChainRegistry · Polygon Amoy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766560" y="5001768"/>
            <a:ext cx="466344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0" y="5074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WALLET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66560" y="5349240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Wagmi v2 · Viem · RainbowKit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766560" y="5733288"/>
            <a:ext cx="4663440" cy="228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580644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ourier New"/>
              </a:rPr>
              <a:t>TESTING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6080759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75569"/>
                </a:solidFill>
                <a:latin typeface="Calibri"/>
              </a:rPr>
              <a:t>Vitest · 44 assertions · TypeScript strict mode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R  O  A  D  M  A  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Three phases to ecosystem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37360"/>
            <a:ext cx="3657600" cy="4773168"/>
          </a:xfrm>
          <a:prstGeom prst="rect">
            <a:avLst/>
          </a:prstGeom>
          <a:solidFill>
            <a:srgbClr val="13315C"/>
          </a:solidFill>
          <a:ln w="9525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914400" cy="347472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901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B2545"/>
                </a:solidFill>
                <a:latin typeface="Calibri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938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Apr – Jul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2B788"/>
                </a:solidFill>
                <a:latin typeface="Courier New"/>
              </a:rPr>
              <a:t>Phase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6148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Pilot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900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2 exportadora partners in Piura, Peru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03250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SUNAT &amp; SENASA API integration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6360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First real Evidence Pack anchored on mainnet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395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Pre-shipment financing pilot with 1 financier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70832" y="1737360"/>
            <a:ext cx="3657600" cy="4773168"/>
          </a:xfrm>
          <a:prstGeom prst="rect">
            <a:avLst/>
          </a:prstGeom>
          <a:solidFill>
            <a:srgbClr val="13315C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07992" y="1901952"/>
            <a:ext cx="91440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07992" y="1901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B2545"/>
                </a:solidFill>
                <a:latin typeface="Calibri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59552" y="1938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Aug – Dec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ourier New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276148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42900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10 exporters across Peru &amp; Mexico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403250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Importer verification portal (US &amp; EU)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46360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Financing readiness score (bank-grade)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53712" y="52395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Protocol fee: $8–12 per anchored shipment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1737360"/>
            <a:ext cx="3657600" cy="4773168"/>
          </a:xfrm>
          <a:prstGeom prst="rect">
            <a:avLst/>
          </a:prstGeom>
          <a:solidFill>
            <a:srgbClr val="13315C"/>
          </a:solidFill>
          <a:ln w="9525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421624" y="1901952"/>
            <a:ext cx="914400" cy="347472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21624" y="1901952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0B2545"/>
                </a:solidFill>
                <a:latin typeface="Calibri"/>
              </a:rPr>
              <a:t>VISION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73184" y="1938528"/>
            <a:ext cx="23774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94A3B8"/>
                </a:solidFill>
                <a:latin typeface="Calibri"/>
              </a:rPr>
              <a:t>2027+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67344" y="237744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5D5B2"/>
                </a:solidFill>
                <a:latin typeface="Courier New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67344" y="276148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Georgia"/>
              </a:rPr>
              <a:t>Ecosystem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3429000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Open protocol for any perishable commodity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67344" y="4032504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US CBP + EU customs API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67344" y="4636008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DeFi-backed trade finance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67344" y="5239512"/>
            <a:ext cx="3291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94A3B8"/>
                </a:solidFill>
                <a:latin typeface="Calibri"/>
              </a:rPr>
              <a:t>→  100,000+ shipments verified annually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0B25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H  E     T  E  A  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51206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3400" b="1" i="0">
                <a:solidFill>
                  <a:srgbClr val="FFFFFF"/>
                </a:solidFill>
                <a:latin typeface="Georgia"/>
              </a:rPr>
              <a:t>Built at
TKS &amp; Velocity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03120"/>
            <a:ext cx="5029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94A3B8"/>
                </a:solidFill>
                <a:latin typeface="Calibri"/>
              </a:rPr>
              <a:t>TKS (The Knowledge Society) is a human accelerator that develops the world's most impactful young innovators. Velocity is TKS's moonshot track.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D5B2"/>
                </a:solidFill>
                <a:latin typeface="Calibri"/>
              </a:rPr>
              <a:t>🏗  Full-stack engineer — React 18, TypeScript, Supabase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D5B2"/>
                </a:solidFill>
                <a:latin typeface="Calibri"/>
              </a:rPr>
              <a:t>⛓  Blockchain — Hedera HCS, Solidity 0.8.20, Wagmi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26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D5B2"/>
                </a:solidFill>
                <a:latin typeface="Calibri"/>
              </a:rPr>
              <a:t>🌎  Supply chain research — SENASA, SUNAT, trade finance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12064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5D5B2"/>
                </a:solidFill>
                <a:latin typeface="Calibri"/>
              </a:rPr>
              <a:t>📊  SDG-driven product thesis validated with real exporters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6327648"/>
            <a:ext cx="5120640" cy="384048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6327648"/>
            <a:ext cx="5120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0B2545"/>
                </a:solidFill>
                <a:latin typeface="Calibri"/>
              </a:rPr>
              <a:t>Google Factory X Moonshot  ·  April 18 – May 10,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5603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2B788"/>
                </a:solidFill>
                <a:latin typeface="Calibri"/>
              </a:rPr>
              <a:t>T  H  E     A  S  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713232"/>
            <a:ext cx="5486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4999"/>
              </a:lnSpc>
            </a:pPr>
            <a:r>
              <a:rPr sz="3000" b="1" i="0">
                <a:solidFill>
                  <a:srgbClr val="0B2545"/>
                </a:solidFill>
                <a:latin typeface="Georgia"/>
              </a:rPr>
              <a:t>What we need
to go to market.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03120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2103120"/>
            <a:ext cx="73152" cy="9601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2194560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Partner Introductions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560320"/>
            <a:ext cx="5193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2–3 mango exporters in Piura ready to pilot and share real shipment data.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63640" y="3182111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63640" y="3182111"/>
            <a:ext cx="73152" cy="9601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273551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Regulatory Access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639311"/>
            <a:ext cx="5193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Connection to SUNAT / SENASA technical teams for API integration.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63640" y="4261104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4261104"/>
            <a:ext cx="73152" cy="9601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46520" y="4352544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Financing Partner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4718304"/>
            <a:ext cx="5193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One bank willing to test pre-shipment release triggered by an anchored Evidence Pack.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5340096"/>
            <a:ext cx="5486400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5340096"/>
            <a:ext cx="73152" cy="9601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5431536"/>
            <a:ext cx="51937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B2545"/>
                </a:solidFill>
                <a:latin typeface="Calibri"/>
              </a:rPr>
              <a:t>Mentorship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5797296"/>
            <a:ext cx="519379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75569"/>
                </a:solidFill>
                <a:latin typeface="Calibri"/>
              </a:rPr>
              <a:t>Advisors with experience in trade finance, customs, or agri-supply chain at scale.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6473952"/>
            <a:ext cx="5486400" cy="320040"/>
          </a:xfrm>
          <a:prstGeom prst="rect">
            <a:avLst/>
          </a:prstGeom>
          <a:solidFill>
            <a:srgbClr val="EBF5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64739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475569"/>
                </a:solidFill>
                <a:latin typeface="Calibri"/>
              </a:rPr>
              <a:t>"We don't sell traceability. We sell certainty. And certainty has a price."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